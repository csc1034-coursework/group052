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21:57:49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821 56 24575,'-70'-2'0,"-79"4"0,127 1 0,-39 11 0,31-6 0,8-3 0,1 2 0,1 0 0,-1 1 0,1 1 0,1 1 0,-32 21 0,-44 23 0,-2 2 0,92-52 0,-10 5 0,1 1 0,0 1 0,0 0 0,-22 25 0,33-33 0,1 1 0,-1-1 0,1 1 0,0-1 0,0 1 0,0 0 0,0 0 0,1 0 0,0 0 0,-1 0 0,1 0 0,1 0 0,-1 1 0,1-1 0,0 0 0,0 0 0,0 1 0,0-1 0,1 0 0,-1 0 0,1 0 0,0 1 0,1-1 0,-1 0 0,1 0 0,1 3 0,4 2 0,-1 0 0,1 0 0,0-1 0,1 0 0,0 0 0,0-1 0,1 0 0,0-1 0,0 1 0,1-2 0,13 7 0,-7-3 0,-1 0 0,0 1 0,19 17 0,-10-5 0,1 0 0,0-2 0,32 20 0,-43-32 0,0-1 0,0 0 0,1-1 0,0 0 0,0-1 0,0-1 0,1-1 0,25 3 0,231-3 0,-136-6 0,277 4 0,-409-1 0,1 0 0,-1 0 0,1-1 0,-1 1 0,0-1 0,1 0 0,-1 0 0,1-1 0,-1 1 0,5-3 0,-7 2 0,1 0 0,-1 0 0,0 0 0,0 0 0,0 0 0,0 0 0,0-1 0,0 1 0,0-1 0,-1 0 0,1 1 0,-1-1 0,0 0 0,0 0 0,2-4 0,13-52 0,14-103 0,-25 114 0,-2 0 0,-2 0 0,-6-54 0,4 94 0,-1 0 0,0 0 0,0 0 0,-1 0 0,0 0 0,0 1 0,-1-1 0,0 1 0,0 0 0,-1 0 0,0 0 0,0 1 0,-1 0 0,0 0 0,0 0 0,-10-8 0,4 6 0,0 0 0,0 0 0,-1 1 0,0 1 0,0 0 0,0 1 0,-1 0 0,-24-5 0,24 7 0,-1-2 0,1 1 0,-16-9 0,19 8 0,-1 0 0,0 0 0,1 2 0,-2-1 0,-21-2 0,27 6 0,1 0 0,0 0 0,-1 1 0,1 0 0,-1 0 0,1 1 0,0-1 0,0 1 0,0 1 0,0-1 0,0 1 0,-8 5 0,-19 9 0,19-13-96,0 0-1,0-1 0,-1-1 1,1 0-1,-1-1 0,1 0 1,-22-2-1,24 1-495,-12-1-6234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22:00:41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821 56 24575,'-70'-2'0,"-79"4"0,127 1 0,-39 11 0,31-6 0,8-3 0,1 2 0,1 0 0,-1 1 0,1 1 0,1 1 0,-32 21 0,-44 23 0,-2 2 0,92-52 0,-10 5 0,1 1 0,0 1 0,0 0 0,-22 25 0,33-33 0,1 1 0,-1-1 0,1 1 0,0-1 0,0 1 0,0 0 0,0 0 0,1 0 0,0 0 0,-1 0 0,1 0 0,1 0 0,-1 1 0,1-1 0,0 0 0,0 0 0,0 1 0,0-1 0,1 0 0,-1 0 0,1 0 0,0 1 0,1-1 0,-1 0 0,1 0 0,1 3 0,4 2 0,-1 0 0,1 0 0,0-1 0,1 0 0,0 0 0,0-1 0,1 0 0,0-1 0,0 1 0,1-2 0,13 7 0,-7-3 0,-1 0 0,0 1 0,19 17 0,-10-5 0,1 0 0,0-2 0,32 20 0,-43-32 0,0-1 0,0 0 0,1-1 0,0 0 0,0-1 0,0-1 0,1-1 0,25 3 0,231-3 0,-136-6 0,277 4 0,-409-1 0,1 0 0,-1 0 0,1-1 0,-1 1 0,0-1 0,1 0 0,-1 0 0,1-1 0,-1 1 0,5-3 0,-7 2 0,1 0 0,-1 0 0,0 0 0,0 0 0,0 0 0,0 0 0,0-1 0,0 1 0,0-1 0,-1 0 0,1 1 0,-1-1 0,0 0 0,0 0 0,2-4 0,13-52 0,14-103 0,-25 114 0,-2 0 0,-2 0 0,-6-54 0,4 94 0,-1 0 0,0 0 0,0 0 0,-1 0 0,0 0 0,0 1 0,-1-1 0,0 1 0,0 0 0,-1 0 0,0 0 0,0 1 0,-1 0 0,0 0 0,0 0 0,-10-8 0,4 6 0,0 0 0,0 0 0,-1 1 0,0 1 0,0 0 0,0 1 0,-1 0 0,-24-5 0,24 7 0,-1-2 0,1 1 0,-16-9 0,19 8 0,-1 0 0,0 0 0,1 2 0,-2-1 0,-21-2 0,27 6 0,1 0 0,0 0 0,-1 1 0,1 0 0,-1 0 0,1 1 0,0-1 0,0 1 0,0 1 0,0-1 0,0 1 0,-8 5 0,-19 9 0,19-13-96,0 0-1,0-1 0,-1-1 1,1 0-1,-1-1 0,1 0 1,-22-2-1,24 1-495,-12-1-6234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23:28:49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3337 378 24575,'-272'-1'0,"-390"7"0,530 5 0,1 5 0,1 6 0,1 5 0,-224 80 0,136-23 0,-318 172 0,324-145 0,-177 98 0,368-197 0,0 1 0,1 1 0,1 0 0,-24 24 0,37-33 0,-1 1 0,1 0 0,0 0 0,0 1 0,1-1 0,0 1 0,0 0 0,1 0 0,0 1 0,0-1 0,0 0 0,1 1 0,0 0 0,1 0 0,-1 0 0,1 10 0,2-12 0,0 0 0,1 0 0,-1 0 0,1 0 0,1 0 0,-1 0 0,1-1 0,0 1 0,0-1 0,1 0 0,4 6 0,47 50 0,-35-44 0,1-2 0,0 0 0,0-1 0,36 16 0,15 11 0,-8-4 0,124 53 0,77 9 0,-153-60 0,316 92 0,13-25 0,628 88-2111,-823-155 1018,1308 141 77,-744-64 2169,-597-79-1009,607 41-449,4-70-681,518-51-1323,-110 1 903,-210-3 1643,-127 9-237,3 33 0,1049-37 850,-1844 37-930,14-1 214,668-29 1220,-2-47 1011,-571 53-1662,89-16 1468,-222 25-1984,32-5-179,150-26-8,-143 23 0,-97 23 0,-1-2 0,0-1 0,0 0 0,37-18 0,-49 19 0,-1 1 0,0-1 0,-1 0 0,1 0 0,-1 0 0,0-1 0,0 0 0,0-1 0,-1 1 0,0-1 0,0 0 0,-1 0 0,0-1 0,0 1 0,2-10 0,10-31 0,-3 0 0,-1-2 0,6-71 0,-7-156 0,-14 251 0,0-1 0,-1 1 0,-2 0 0,-1 0 0,0 1 0,-2-1 0,-1 2 0,-22-38 0,19 40 0,-1 2 0,-1-1 0,0 2 0,-2 0 0,-1 1 0,-22-18 0,-128-88 0,107 81 0,-63-39 0,-235-117 0,-157-24 0,77 81 0,-11 38 0,165 46 0,-4 14 0,-366-11 0,240 43 7,-212-3-206,-218 16-855,-261-3 1148,599-13-188,106 1 1148,-1268-12-2269,172 10 142,684 4 2401,572-1-815,-33 0 126,13-1-639,145 5 0,-181 10 0,-90 52 0,290-37 0,68-10 0,-1 0 0,1 2 0,-35 15 0,48-18 0,-1-1 0,1 0 0,0-1 0,-1-1 0,1 0 0,-23-1 0,-12 1 0,-38 4 0,-757 79 0,755-67 0,57-9 0,-1-3 0,-70 5 0,76-9 0,0 2 0,0 1 0,-47 13 0,9-1 0,-33 2 0,43-10 0,-99 31 0,137-34-195,0-1 0,0-1 0,-1-1 0,0 0 0,1-2 0,-21 0 0,17-2-6631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23:29:00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2220 276 24575,'-793'0'0,"738"4"0,1 1 0,-1 3 0,-62 18 0,60-13 0,-2-1 0,-87 4 0,94-14 0,1 2 0,-1 2 0,-50 13 0,37-4 0,30-8 0,1 1 0,-46 19 0,-136 50 0,167-59 0,35-14 0,-1 2 0,0-1 0,1 2 0,-14 8 0,23-12 0,1 0 0,0 1 0,0-1 0,1 1 0,-1-1 0,1 1 0,0 0 0,0 0 0,0 1 0,0-1 0,1 0 0,-1 1 0,1 0 0,1 0 0,-1-1 0,-1 10 0,0 0 0,0 0 0,1 0 0,1 0 0,0 0 0,2 1 0,-1-1 0,1 0 0,1 0 0,1 0 0,8 27 0,-9-37 0,0-1 0,0 0 0,0 1 0,1-1 0,0 0 0,-1 0 0,1-1 0,0 1 0,0-1 0,1 1 0,4 2 0,44 20 0,-17-9 0,-6 0 0,1-1 0,1-1 0,0-2 0,48 12 0,-39-12 0,0 1 0,41 20 0,-37-14 0,51 13 0,119 36 0,-132-41 0,25 8 0,277 96 0,-315-108 0,113 21 0,-40-11 0,-33-5 0,112 31 0,-168-46 0,93 12 0,-29-7 0,110 18 0,1-9 0,327-4 0,68-47 0,543-127 0,-880 112 0,-166 25 0,38-13 0,-54 7 0,-95 19 0,0-1 0,0 0 0,-1-1 0,1 0 0,0 0 0,-1-1 0,0 0 0,0-1 0,0 1 0,-1-1 0,8-7 0,-10 7 0,1 0 0,-2-1 0,1 1 0,-1-1 0,0 0 0,0-1 0,0 1 0,-1-1 0,0 1 0,0-1 0,-1 0 0,0 0 0,0 0 0,1-10 0,0-7 0,-1-1 0,-1 0 0,-1 0 0,-1 0 0,-4-25 0,2 35 0,0 0 0,-1 0 0,0 0 0,-1 0 0,-1 1 0,-1-1 0,0 2 0,0-1 0,-13-15 0,-10-7 0,-2 0 0,-1 3 0,-2 1 0,-1 1 0,-67-43 0,-216-103 0,81 63 0,-264-85 0,324 142 0,-1 7 0,-244-34 0,288 72 0,-250 9 0,194 7 0,-741-4 0,906 2 0,1 1 0,-1 0 0,1 2 0,-30 10 0,30-7 0,-1-2 0,0-1 0,-47 4 0,47-9 0,0 1 0,-1 1 0,1 1 0,0 1 0,-34 10 0,11 3-341,0 1 0,2 3-1,-71 40 1,101-50-6485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D904-79AD-0667-D0D4-CA0034BD6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61A11-0842-10EB-DD6B-852EA38A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DE9A-C622-CEF2-2C79-E40F0CAA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F9947-5261-2989-020F-8A2649F0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2733-E2EE-2EA1-53AF-3E0D5B60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07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6405-856C-DC22-C436-30963684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0FF81-17DF-BC8D-B190-DE8509634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8B9D7-1301-6440-CEB2-C2BA4077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98659-C2F0-B9EC-AD4E-DDF6A8E1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BD7E6-17CB-73EB-15E5-52F2978B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9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17EE-D067-4419-6EAD-77BE4449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070CC-E0D9-8E61-3DDE-66C989B7C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2A436-CDC0-124C-8BA9-F1C66790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F7B52-DBB9-EA47-24EA-FF34CD05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4FCAB-A284-A8C4-140E-A15711DF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020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853B-56DA-C9B9-D5D3-5B3A632C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238E4-130D-4CC6-BD95-B21858C32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E2EF4-3EE1-1985-A6F3-9C0709BCA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A960A-C853-69BC-6C5A-BBFE9B27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CD357-F19C-2365-DCEA-5E223C76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E9A9F-5C7D-F5CB-480D-70DCB081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55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12A5-1325-98AE-36D6-13448A17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08D13-96D2-7B4C-2B4D-F15E273D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F3611-DB3F-3D12-7F8F-200EB7F6C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5FC34-B265-2ACA-BF2B-895858009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6A1D8-012E-4EBD-9323-FD3995939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0A63B-1697-78D6-685A-ADD88542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27A32-3B42-DBBA-A11A-D2F1D224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084D3-3CDA-F5E2-E71B-8315F45D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12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2999-B459-3202-C9B5-9ABCE5DB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08113-8AB1-8188-D042-2C497B03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4FB93-6857-BD19-ED58-34CCBB92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8E619-FF17-57D7-021F-8C4F1F72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68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EDF59-FE76-7630-7640-B140F310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D3A05-75B6-6D0D-8E16-1957588F3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04572-C9EC-0B40-67B7-5FD00A2D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20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7A84-5937-BABD-AD21-FB497151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943E4-6C8A-36B7-1B64-8803479DE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593F0-7831-F5DF-D2C6-92C000F42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7BE16-F2D8-8082-711B-6E985DC9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B729E-D65B-972C-6039-02F2361A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2BE80-63FF-DB90-DC73-B3083DE9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32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884D-69B9-9DB2-1EAD-46BA3313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88A8E-7B47-091C-0C6D-79A502710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41F1D-8516-D970-50AA-678F0E085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9736B-ED5C-4EB7-202D-D7903A3C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046E5-C51C-B8B5-641F-E1F6951D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0D046-0192-CFDB-5C06-B1230BCB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59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05E1-BA14-530F-415B-FD1EF1A1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291BF-A891-81D9-50A8-B8C589567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7921F-EC4E-F360-41B2-48F8D1E4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1962-6163-07A2-AC6C-D97B64E4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15070-3096-3881-CB81-3FFB39C5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0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31A85-24D5-07CB-56F9-A05ACB6D6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915FA-1AF3-8C9A-84AF-C7A7B3572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3F00A-7488-9CDE-6607-41376C91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5DA9-B82B-BF34-FAFA-81C0D772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ADFB2-2210-DAF7-DEE5-F8892429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2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AC493-A407-55CA-E43A-327E5B4B7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4B2B3-A295-77D2-7FF1-CFF5457E1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1BBA3-20BC-782F-9E94-E255A783D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FE486-D824-4FBC-B3B4-497CE55159A9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4DDF9-5DED-18C3-E904-BF2E630FD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B2818-91D3-272F-B7CF-661148BE0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CE693-BE67-41DD-88D5-E3F69B19DE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15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47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35D8-6E21-050D-32BC-9A56887EC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Coursework CSC1034 25/26</a:t>
            </a:r>
            <a:br>
              <a:rPr lang="en-GB" dirty="0"/>
            </a:br>
            <a:r>
              <a:rPr lang="en-GB" dirty="0"/>
              <a:t>Gender Equality SDG5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83B60-F8EA-1ADA-F592-61EE3EAC2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Oliver Statham</a:t>
            </a:r>
          </a:p>
          <a:p>
            <a:r>
              <a:rPr lang="en-GB" dirty="0"/>
              <a:t>40483321</a:t>
            </a:r>
          </a:p>
          <a:p>
            <a:r>
              <a:rPr lang="en-GB" dirty="0"/>
              <a:t>Group 52</a:t>
            </a:r>
          </a:p>
        </p:txBody>
      </p:sp>
    </p:spTree>
    <p:extLst>
      <p:ext uri="{BB962C8B-B14F-4D97-AF65-F5344CB8AC3E}">
        <p14:creationId xmlns:p14="http://schemas.microsoft.com/office/powerpoint/2010/main" val="269803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F45D0-8F19-A1D2-CDAE-0C72D3D51828}"/>
              </a:ext>
            </a:extLst>
          </p:cNvPr>
          <p:cNvSpPr txBox="1"/>
          <p:nvPr/>
        </p:nvSpPr>
        <p:spPr>
          <a:xfrm>
            <a:off x="371789" y="203424"/>
            <a:ext cx="229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CRUD- Create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A53EA-FD76-9B8D-126A-A28C6C9C5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124" y="203424"/>
            <a:ext cx="2636360" cy="394900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50EACBF-FE00-72DD-908E-69C2AB6B698F}"/>
              </a:ext>
            </a:extLst>
          </p:cNvPr>
          <p:cNvGrpSpPr/>
          <p:nvPr/>
        </p:nvGrpSpPr>
        <p:grpSpPr>
          <a:xfrm>
            <a:off x="483481" y="722350"/>
            <a:ext cx="2179332" cy="4443677"/>
            <a:chOff x="741282" y="1127741"/>
            <a:chExt cx="2600851" cy="548174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569A664-194A-59EA-20FF-D8090501E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282" y="1127741"/>
              <a:ext cx="2525025" cy="27408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E15AAB-90FC-DD44-009D-7069DBAA9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688" y="3868615"/>
              <a:ext cx="2527445" cy="2740874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C46C4-D965-4DBB-8180-DFFB9FB1F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66028"/>
            <a:ext cx="5474403" cy="1373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D27EFC-F69A-D4DF-C806-F61493EAC12D}"/>
              </a:ext>
            </a:extLst>
          </p:cNvPr>
          <p:cNvSpPr txBox="1"/>
          <p:nvPr/>
        </p:nvSpPr>
        <p:spPr>
          <a:xfrm>
            <a:off x="3265714" y="2723103"/>
            <a:ext cx="1698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inputs data and selects options that apply to them. HTML then calls </a:t>
            </a:r>
            <a:r>
              <a:rPr lang="en-GB" dirty="0" err="1"/>
              <a:t>addBeneficiary</a:t>
            </a:r>
            <a:r>
              <a:rPr lang="en-GB" dirty="0"/>
              <a:t> with user data.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604FC8-991B-D109-229C-87A6F8E6A41C}"/>
              </a:ext>
            </a:extLst>
          </p:cNvPr>
          <p:cNvCxnSpPr/>
          <p:nvPr/>
        </p:nvCxnSpPr>
        <p:spPr>
          <a:xfrm flipV="1">
            <a:off x="4873451" y="572756"/>
            <a:ext cx="994786" cy="39490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C7786-A117-E455-E822-AE13D8BFA043}"/>
              </a:ext>
            </a:extLst>
          </p:cNvPr>
          <p:cNvCxnSpPr>
            <a:cxnSpLocks/>
          </p:cNvCxnSpPr>
          <p:nvPr/>
        </p:nvCxnSpPr>
        <p:spPr>
          <a:xfrm flipV="1">
            <a:off x="7112439" y="1740310"/>
            <a:ext cx="1428545" cy="6129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2C6F94-73F8-17A9-C54A-FF8BAF7D8D6A}"/>
              </a:ext>
            </a:extLst>
          </p:cNvPr>
          <p:cNvSpPr txBox="1"/>
          <p:nvPr/>
        </p:nvSpPr>
        <p:spPr>
          <a:xfrm>
            <a:off x="9045380" y="540607"/>
            <a:ext cx="1927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escapeSql</a:t>
            </a:r>
            <a:r>
              <a:rPr lang="en-GB" dirty="0"/>
              <a:t> replaces single quotes with double quotes to work in SQL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A3AF8A-5AC2-5E87-6072-D8ECB4E930A8}"/>
              </a:ext>
            </a:extLst>
          </p:cNvPr>
          <p:cNvCxnSpPr>
            <a:cxnSpLocks/>
          </p:cNvCxnSpPr>
          <p:nvPr/>
        </p:nvCxnSpPr>
        <p:spPr>
          <a:xfrm flipV="1">
            <a:off x="8422448" y="3207359"/>
            <a:ext cx="1094972" cy="162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BCA4BA-5E47-3091-6490-684E629C17DE}"/>
              </a:ext>
            </a:extLst>
          </p:cNvPr>
          <p:cNvSpPr txBox="1"/>
          <p:nvPr/>
        </p:nvSpPr>
        <p:spPr>
          <a:xfrm>
            <a:off x="9624787" y="2675098"/>
            <a:ext cx="13086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Number forces value to be a number, preventing injection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F265E8-8CBB-EDFD-604D-812FA7B7D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898" y="4415164"/>
            <a:ext cx="1254406" cy="2187562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7AC810-B7AE-449C-85B4-89BA77CB6A3C}"/>
              </a:ext>
            </a:extLst>
          </p:cNvPr>
          <p:cNvCxnSpPr>
            <a:cxnSpLocks/>
          </p:cNvCxnSpPr>
          <p:nvPr/>
        </p:nvCxnSpPr>
        <p:spPr>
          <a:xfrm flipH="1" flipV="1">
            <a:off x="2737201" y="2017935"/>
            <a:ext cx="392219" cy="9982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D6B4727-FCB3-C2CF-D010-5E8411816F5C}"/>
              </a:ext>
            </a:extLst>
          </p:cNvPr>
          <p:cNvSpPr txBox="1"/>
          <p:nvPr/>
        </p:nvSpPr>
        <p:spPr>
          <a:xfrm>
            <a:off x="7768107" y="4631782"/>
            <a:ext cx="1308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 view</a:t>
            </a:r>
          </a:p>
        </p:txBody>
      </p:sp>
    </p:spTree>
    <p:extLst>
      <p:ext uri="{BB962C8B-B14F-4D97-AF65-F5344CB8AC3E}">
        <p14:creationId xmlns:p14="http://schemas.microsoft.com/office/powerpoint/2010/main" val="253969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99C1C5-B60B-3D16-4D03-E26535DCCD49}"/>
              </a:ext>
            </a:extLst>
          </p:cNvPr>
          <p:cNvSpPr txBox="1"/>
          <p:nvPr/>
        </p:nvSpPr>
        <p:spPr>
          <a:xfrm>
            <a:off x="196645" y="186813"/>
            <a:ext cx="189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CRUD- 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A69AE-AD8D-10F9-13EB-F26047B1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556145"/>
            <a:ext cx="5112774" cy="3093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8F3F68-EE12-62B0-38FE-9187A6A3F22C}"/>
              </a:ext>
            </a:extLst>
          </p:cNvPr>
          <p:cNvSpPr txBox="1"/>
          <p:nvPr/>
        </p:nvSpPr>
        <p:spPr>
          <a:xfrm>
            <a:off x="7246374" y="424086"/>
            <a:ext cx="3726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getBaseBeneficiarySelect</a:t>
            </a:r>
            <a:r>
              <a:rPr lang="en-GB" dirty="0"/>
              <a:t> loads all beneficiaries, used by </a:t>
            </a:r>
            <a:r>
              <a:rPr lang="en-GB" dirty="0" err="1"/>
              <a:t>getSearchQuery</a:t>
            </a:r>
            <a:r>
              <a:rPr lang="en-GB" dirty="0"/>
              <a:t> with filters to search and </a:t>
            </a:r>
            <a:r>
              <a:rPr lang="en-GB" dirty="0" err="1"/>
              <a:t>getAllBeneficiaries</a:t>
            </a:r>
            <a:r>
              <a:rPr lang="en-GB" dirty="0"/>
              <a:t> to load all to website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0D6E19-14CE-0ADB-4E24-659EE751C65F}"/>
              </a:ext>
            </a:extLst>
          </p:cNvPr>
          <p:cNvCxnSpPr>
            <a:cxnSpLocks/>
          </p:cNvCxnSpPr>
          <p:nvPr/>
        </p:nvCxnSpPr>
        <p:spPr>
          <a:xfrm flipV="1">
            <a:off x="1779639" y="747252"/>
            <a:ext cx="5466735" cy="297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5064E6B-A836-2FF7-5A83-802787C6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5" y="3747797"/>
            <a:ext cx="2639694" cy="164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EF8DDC-7189-795A-9547-704EEF7F4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14" y="3688324"/>
            <a:ext cx="2539035" cy="1767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D3CA56-E202-C445-9D2B-93F70ED04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450" y="3508882"/>
            <a:ext cx="2775368" cy="19056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3C11A7-D4B3-BE32-C2AE-21F063B76F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37" y="5494714"/>
            <a:ext cx="2723001" cy="10915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2CBC51-5FAE-0DA3-A38F-9653B6D6F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651" y="2035169"/>
            <a:ext cx="2656849" cy="139383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A002A1-4667-EA36-9561-3CA14CF3CC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1714" y="5455869"/>
            <a:ext cx="2539035" cy="122020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29290BA-247B-FE82-922A-E55476600D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442" y="5454351"/>
            <a:ext cx="2775369" cy="12780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86185AC-BA5E-AC46-7E57-11282ECF9A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0749" y="2228948"/>
            <a:ext cx="3399793" cy="103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0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149952-DE88-04C2-ECA8-487083C80673}"/>
              </a:ext>
            </a:extLst>
          </p:cNvPr>
          <p:cNvSpPr txBox="1"/>
          <p:nvPr/>
        </p:nvSpPr>
        <p:spPr>
          <a:xfrm>
            <a:off x="245806" y="137652"/>
            <a:ext cx="174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CRUD- Update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914C2-DCCD-F605-2385-213C686EE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826853"/>
            <a:ext cx="6906589" cy="2772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0C440-9127-BDF2-8DED-2DCD759CD412}"/>
              </a:ext>
            </a:extLst>
          </p:cNvPr>
          <p:cNvSpPr txBox="1"/>
          <p:nvPr/>
        </p:nvSpPr>
        <p:spPr>
          <a:xfrm>
            <a:off x="7284039" y="137652"/>
            <a:ext cx="22106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isNumeric</a:t>
            </a:r>
            <a:r>
              <a:rPr lang="en-GB" sz="1600" dirty="0"/>
              <a:t> </a:t>
            </a:r>
            <a:r>
              <a:rPr lang="en-GB" sz="1600" dirty="0" err="1"/>
              <a:t>boolean</a:t>
            </a:r>
            <a:r>
              <a:rPr lang="en-GB" sz="1600" dirty="0"/>
              <a:t> allows the method to respond accordingly based on whether the field to be changed is a number field or string field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9A07DF-7734-04F4-FA89-503AF23FF7F9}"/>
              </a:ext>
            </a:extLst>
          </p:cNvPr>
          <p:cNvCxnSpPr>
            <a:cxnSpLocks/>
          </p:cNvCxnSpPr>
          <p:nvPr/>
        </p:nvCxnSpPr>
        <p:spPr>
          <a:xfrm flipV="1">
            <a:off x="5536160" y="640459"/>
            <a:ext cx="1747879" cy="3727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AD47B9-A86E-5E68-B3B2-0D374F6266C1}"/>
              </a:ext>
            </a:extLst>
          </p:cNvPr>
          <p:cNvCxnSpPr>
            <a:cxnSpLocks/>
          </p:cNvCxnSpPr>
          <p:nvPr/>
        </p:nvCxnSpPr>
        <p:spPr>
          <a:xfrm>
            <a:off x="3342968" y="2212934"/>
            <a:ext cx="4146206" cy="4434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EB3705-A870-F166-DB9B-183A7ECF9021}"/>
              </a:ext>
            </a:extLst>
          </p:cNvPr>
          <p:cNvSpPr txBox="1"/>
          <p:nvPr/>
        </p:nvSpPr>
        <p:spPr>
          <a:xfrm>
            <a:off x="7609602" y="2492794"/>
            <a:ext cx="221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Sets field to new value from user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E02A9C-A0E5-D416-4D47-6934E2BFD28D}"/>
              </a:ext>
            </a:extLst>
          </p:cNvPr>
          <p:cNvCxnSpPr>
            <a:cxnSpLocks/>
          </p:cNvCxnSpPr>
          <p:nvPr/>
        </p:nvCxnSpPr>
        <p:spPr>
          <a:xfrm>
            <a:off x="3699100" y="2656395"/>
            <a:ext cx="4240448" cy="1042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B359E4E-598D-5C70-BD55-186A0D142D22}"/>
              </a:ext>
            </a:extLst>
          </p:cNvPr>
          <p:cNvSpPr txBox="1"/>
          <p:nvPr/>
        </p:nvSpPr>
        <p:spPr>
          <a:xfrm>
            <a:off x="7971486" y="3429000"/>
            <a:ext cx="221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Only updates correct record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EFB4C2-28D1-9431-C3A1-C4059CB2E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90" y="3918884"/>
            <a:ext cx="4437459" cy="18938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3BE801D-88C8-230D-F89F-33F7940D15D1}"/>
                  </a:ext>
                </a:extLst>
              </p14:cNvPr>
              <p14:cNvContentPartPr/>
              <p14:nvPr/>
            </p14:nvContentPartPr>
            <p14:xfrm>
              <a:off x="2546257" y="5289348"/>
              <a:ext cx="523080" cy="276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3BE801D-88C8-230D-F89F-33F7940D15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0137" y="5283228"/>
                <a:ext cx="535320" cy="28908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5B469184-DBE2-08D3-6059-72A0C3AEA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008" y="3856083"/>
            <a:ext cx="2531166" cy="26811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918FBAD-456D-345C-C057-205E304692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0015" y="4516531"/>
            <a:ext cx="4240448" cy="129618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B772E4-2923-2D6A-D188-C5631145FB3C}"/>
              </a:ext>
            </a:extLst>
          </p:cNvPr>
          <p:cNvCxnSpPr/>
          <p:nvPr/>
        </p:nvCxnSpPr>
        <p:spPr>
          <a:xfrm>
            <a:off x="4613879" y="5206473"/>
            <a:ext cx="68825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D9F5E7-131C-7D43-C8D2-5D7D6AE1A4A3}"/>
              </a:ext>
            </a:extLst>
          </p:cNvPr>
          <p:cNvCxnSpPr/>
          <p:nvPr/>
        </p:nvCxnSpPr>
        <p:spPr>
          <a:xfrm>
            <a:off x="7152395" y="4880549"/>
            <a:ext cx="68825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C87A5A4-D4D0-3514-EF2C-244DDA7B27C8}"/>
                  </a:ext>
                </a:extLst>
              </p14:cNvPr>
              <p14:cNvContentPartPr/>
              <p14:nvPr/>
            </p14:nvContentPartPr>
            <p14:xfrm>
              <a:off x="9476684" y="5398633"/>
              <a:ext cx="523080" cy="2768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C87A5A4-D4D0-3514-EF2C-244DDA7B27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70564" y="5392513"/>
                <a:ext cx="535320" cy="2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123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0EA46-F694-CD1C-40C9-B97FADBEE3C1}"/>
              </a:ext>
            </a:extLst>
          </p:cNvPr>
          <p:cNvSpPr txBox="1"/>
          <p:nvPr/>
        </p:nvSpPr>
        <p:spPr>
          <a:xfrm>
            <a:off x="226142" y="157316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CRUD- Delete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86B1-ED35-F48E-AB26-3A2DB8EF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929969"/>
            <a:ext cx="6017407" cy="348125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A07B91-F8A3-BC62-0014-064CA4C3BB30}"/>
              </a:ext>
            </a:extLst>
          </p:cNvPr>
          <p:cNvCxnSpPr>
            <a:cxnSpLocks/>
          </p:cNvCxnSpPr>
          <p:nvPr/>
        </p:nvCxnSpPr>
        <p:spPr>
          <a:xfrm flipV="1">
            <a:off x="2596858" y="1267391"/>
            <a:ext cx="4049748" cy="11258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9E512D-8A86-929B-A524-EAE774792E51}"/>
              </a:ext>
            </a:extLst>
          </p:cNvPr>
          <p:cNvSpPr txBox="1"/>
          <p:nvPr/>
        </p:nvSpPr>
        <p:spPr>
          <a:xfrm>
            <a:off x="6650886" y="974529"/>
            <a:ext cx="1560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Tells user if error has occurred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FB0CFB-83DC-1B93-4D64-33CFF125D5D6}"/>
              </a:ext>
            </a:extLst>
          </p:cNvPr>
          <p:cNvCxnSpPr>
            <a:cxnSpLocks/>
          </p:cNvCxnSpPr>
          <p:nvPr/>
        </p:nvCxnSpPr>
        <p:spPr>
          <a:xfrm flipV="1">
            <a:off x="5869858" y="2512817"/>
            <a:ext cx="776748" cy="1870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F68E59-923A-B22B-1225-F251122E2C75}"/>
              </a:ext>
            </a:extLst>
          </p:cNvPr>
          <p:cNvSpPr txBox="1"/>
          <p:nvPr/>
        </p:nvSpPr>
        <p:spPr>
          <a:xfrm>
            <a:off x="6781140" y="2328596"/>
            <a:ext cx="1560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Deletes record from all tables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D3514E-DDC7-A8E9-75D6-9632E3CED327}"/>
              </a:ext>
            </a:extLst>
          </p:cNvPr>
          <p:cNvCxnSpPr>
            <a:cxnSpLocks/>
          </p:cNvCxnSpPr>
          <p:nvPr/>
        </p:nvCxnSpPr>
        <p:spPr>
          <a:xfrm flipV="1">
            <a:off x="5978013" y="2912365"/>
            <a:ext cx="668593" cy="3863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9D85F8-7187-BE97-A9AC-E98CC12AE06F}"/>
              </a:ext>
            </a:extLst>
          </p:cNvPr>
          <p:cNvCxnSpPr>
            <a:cxnSpLocks/>
          </p:cNvCxnSpPr>
          <p:nvPr/>
        </p:nvCxnSpPr>
        <p:spPr>
          <a:xfrm flipV="1">
            <a:off x="4699639" y="3163313"/>
            <a:ext cx="2049594" cy="655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E23E60B-26D1-A4BE-E392-D932A1D63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44" y="4630697"/>
            <a:ext cx="3695824" cy="21961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EB693B-D4E1-1420-9247-913E29DFA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195" y="4564177"/>
            <a:ext cx="2702411" cy="21961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B478CA-6877-4172-0A0E-A54540739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054" y="3901559"/>
            <a:ext cx="3167202" cy="11115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C82EE1C-46C7-C137-A110-61546456B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9233" y="5138599"/>
            <a:ext cx="4329147" cy="16882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618B5F-3873-B445-E572-09CFE0CCB5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124" y="3924552"/>
            <a:ext cx="2630067" cy="103558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C12593E-9F40-D51A-44C7-20AE5FD62E9B}"/>
              </a:ext>
            </a:extLst>
          </p:cNvPr>
          <p:cNvSpPr txBox="1"/>
          <p:nvPr/>
        </p:nvSpPr>
        <p:spPr>
          <a:xfrm>
            <a:off x="9156724" y="2654593"/>
            <a:ext cx="156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Confirms with user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D875661-EEC7-8924-7218-0EBBB0D0ABF2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8027607" y="2977759"/>
            <a:ext cx="1129117" cy="8767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BACE971-A95D-EBC6-D198-DE43E8CE1A15}"/>
              </a:ext>
            </a:extLst>
          </p:cNvPr>
          <p:cNvCxnSpPr>
            <a:cxnSpLocks/>
            <a:stCxn id="37" idx="1"/>
          </p:cNvCxnSpPr>
          <p:nvPr/>
        </p:nvCxnSpPr>
        <p:spPr>
          <a:xfrm>
            <a:off x="9156724" y="2977759"/>
            <a:ext cx="125387" cy="7786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76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A4D8E-27FB-CEF3-1969-14E558682E39}"/>
              </a:ext>
            </a:extLst>
          </p:cNvPr>
          <p:cNvSpPr txBox="1"/>
          <p:nvPr/>
        </p:nvSpPr>
        <p:spPr>
          <a:xfrm>
            <a:off x="324465" y="206477"/>
            <a:ext cx="204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HTML-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7BE3E-7245-C013-26D4-DBEB90C5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13" y="1206819"/>
            <a:ext cx="7305152" cy="2222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1A18CD-B984-88DE-F98F-1A9E2BB62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5" y="765117"/>
            <a:ext cx="3662873" cy="3105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E986B4-75E7-DF2E-58AD-720A2B5D59E8}"/>
              </a:ext>
            </a:extLst>
          </p:cNvPr>
          <p:cNvSpPr txBox="1"/>
          <p:nvPr/>
        </p:nvSpPr>
        <p:spPr>
          <a:xfrm>
            <a:off x="4180114" y="472273"/>
            <a:ext cx="3426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Header explains to user what the website is and what this page is for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EAF737-A902-7155-F8F0-5D84D42737A8}"/>
              </a:ext>
            </a:extLst>
          </p:cNvPr>
          <p:cNvCxnSpPr>
            <a:cxnSpLocks/>
          </p:cNvCxnSpPr>
          <p:nvPr/>
        </p:nvCxnSpPr>
        <p:spPr>
          <a:xfrm>
            <a:off x="3436536" y="2783393"/>
            <a:ext cx="1034980" cy="13794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B996DF-245E-9A8A-91C8-E68B2D23FE88}"/>
              </a:ext>
            </a:extLst>
          </p:cNvPr>
          <p:cNvCxnSpPr>
            <a:cxnSpLocks/>
          </p:cNvCxnSpPr>
          <p:nvPr/>
        </p:nvCxnSpPr>
        <p:spPr>
          <a:xfrm>
            <a:off x="3737987" y="2660211"/>
            <a:ext cx="1972664" cy="15026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4B3368-CDBB-7675-8A90-C6054F48FE02}"/>
              </a:ext>
            </a:extLst>
          </p:cNvPr>
          <p:cNvSpPr txBox="1"/>
          <p:nvPr/>
        </p:nvSpPr>
        <p:spPr>
          <a:xfrm>
            <a:off x="2758272" y="4143581"/>
            <a:ext cx="2476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Brings user to home (bottom)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C9458-4075-C67D-0112-5806D9BD7E05}"/>
              </a:ext>
            </a:extLst>
          </p:cNvPr>
          <p:cNvSpPr txBox="1"/>
          <p:nvPr/>
        </p:nvSpPr>
        <p:spPr>
          <a:xfrm>
            <a:off x="5408119" y="4143580"/>
            <a:ext cx="2476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Brings user to home (top)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68F108-C4DC-463F-7845-BB10B987C80E}"/>
              </a:ext>
            </a:extLst>
          </p:cNvPr>
          <p:cNvCxnSpPr>
            <a:cxnSpLocks/>
          </p:cNvCxnSpPr>
          <p:nvPr/>
        </p:nvCxnSpPr>
        <p:spPr>
          <a:xfrm>
            <a:off x="1153993" y="3317395"/>
            <a:ext cx="678902" cy="13037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166F4E0-7732-E207-ED0B-AD3E707CA357}"/>
              </a:ext>
            </a:extLst>
          </p:cNvPr>
          <p:cNvSpPr txBox="1"/>
          <p:nvPr/>
        </p:nvSpPr>
        <p:spPr>
          <a:xfrm>
            <a:off x="698413" y="4705346"/>
            <a:ext cx="2476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Empty division for space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D13210-D5AE-2B2D-17F6-C75A282BB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376" y="3511651"/>
            <a:ext cx="1560418" cy="3300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91ADEDB-81A9-F4C6-5409-BE7873EE9E07}"/>
              </a:ext>
            </a:extLst>
          </p:cNvPr>
          <p:cNvSpPr txBox="1"/>
          <p:nvPr/>
        </p:nvSpPr>
        <p:spPr>
          <a:xfrm>
            <a:off x="9016670" y="4128191"/>
            <a:ext cx="1185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CSS for buttons</a:t>
            </a:r>
          </a:p>
        </p:txBody>
      </p:sp>
    </p:spTree>
    <p:extLst>
      <p:ext uri="{BB962C8B-B14F-4D97-AF65-F5344CB8AC3E}">
        <p14:creationId xmlns:p14="http://schemas.microsoft.com/office/powerpoint/2010/main" val="289267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3AE4E-C414-64EE-60A5-FBB1F92A4A4C}"/>
              </a:ext>
            </a:extLst>
          </p:cNvPr>
          <p:cNvSpPr txBox="1"/>
          <p:nvPr/>
        </p:nvSpPr>
        <p:spPr>
          <a:xfrm>
            <a:off x="255639" y="304800"/>
            <a:ext cx="3824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HTML- Reports, tables and charts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5BE39-3FC1-F615-82C9-51A96345DBA0}"/>
              </a:ext>
            </a:extLst>
          </p:cNvPr>
          <p:cNvSpPr txBox="1"/>
          <p:nvPr/>
        </p:nvSpPr>
        <p:spPr>
          <a:xfrm>
            <a:off x="4833258" y="1860884"/>
            <a:ext cx="1477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Each button calls the relevant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7362D-D342-2BF8-A843-9DC0AA34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918095"/>
            <a:ext cx="4480399" cy="3085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2D0F9-F524-077D-8A75-7DC6E769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9" y="4166383"/>
            <a:ext cx="5287113" cy="2524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FAAF69-7A32-08B4-85F5-38BF50452FA6}"/>
              </a:ext>
            </a:extLst>
          </p:cNvPr>
          <p:cNvSpPr txBox="1"/>
          <p:nvPr/>
        </p:nvSpPr>
        <p:spPr>
          <a:xfrm>
            <a:off x="5664084" y="5051452"/>
            <a:ext cx="1477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Draws chart and creates wrapped table (user can scroll)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B308B5-BB55-524E-3360-D62B763D2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861" y="3429000"/>
            <a:ext cx="282023" cy="29124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3C32EA-5417-E123-4DAC-89B41ECB3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451" y="6477161"/>
            <a:ext cx="5397910" cy="1821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0587B3-0082-3A4F-CB77-6ABD2D257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953" y="3180319"/>
            <a:ext cx="6095992" cy="9048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5434F3-499D-7270-B45A-0781EC670123}"/>
              </a:ext>
            </a:extLst>
          </p:cNvPr>
          <p:cNvSpPr txBox="1"/>
          <p:nvPr/>
        </p:nvSpPr>
        <p:spPr>
          <a:xfrm>
            <a:off x="9134168" y="2261419"/>
            <a:ext cx="2526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Chart is evenly spread due to even distribution during seeding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E4FF92-37A8-16AA-C705-BA79189F2E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2201"/>
          <a:stretch>
            <a:fillRect/>
          </a:stretch>
        </p:blipFill>
        <p:spPr>
          <a:xfrm>
            <a:off x="7252696" y="4941844"/>
            <a:ext cx="3578376" cy="111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63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55708B-B579-5303-6382-AC0B72C9D260}"/>
              </a:ext>
            </a:extLst>
          </p:cNvPr>
          <p:cNvSpPr txBox="1"/>
          <p:nvPr/>
        </p:nvSpPr>
        <p:spPr>
          <a:xfrm>
            <a:off x="422787" y="294968"/>
            <a:ext cx="357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HTML- Search beneficiaries and become beneficiary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F3278-811D-066E-F8DE-CE7D2D95E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8" y="977474"/>
            <a:ext cx="4947329" cy="2709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5D5352-81CF-4C4D-8CCA-A27CAA95B646}"/>
              </a:ext>
            </a:extLst>
          </p:cNvPr>
          <p:cNvSpPr txBox="1"/>
          <p:nvPr/>
        </p:nvSpPr>
        <p:spPr>
          <a:xfrm>
            <a:off x="5211097" y="1109603"/>
            <a:ext cx="1474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Allows user to search via different criteria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C69DC-4607-7BFF-F36A-8ACA3077D304}"/>
              </a:ext>
            </a:extLst>
          </p:cNvPr>
          <p:cNvSpPr txBox="1"/>
          <p:nvPr/>
        </p:nvSpPr>
        <p:spPr>
          <a:xfrm>
            <a:off x="5245509" y="2981190"/>
            <a:ext cx="1700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Relays data to JS method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98F1E9-F122-E3B8-FA14-28336FAD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82" y="670935"/>
            <a:ext cx="3793231" cy="23102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2C0986-3E40-DA57-A1BA-2E26A7044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87" y="5388349"/>
            <a:ext cx="4382941" cy="14696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E61AD4-F74B-6368-4E96-D2782200D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53" y="3791887"/>
            <a:ext cx="2444902" cy="14915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3C1268-619A-D6F5-5899-219EE7FE58CB}"/>
              </a:ext>
            </a:extLst>
          </p:cNvPr>
          <p:cNvSpPr txBox="1"/>
          <p:nvPr/>
        </p:nvSpPr>
        <p:spPr>
          <a:xfrm>
            <a:off x="1722739" y="5098794"/>
            <a:ext cx="34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EF97D-CFB7-6899-1C4F-6400C0681A18}"/>
              </a:ext>
            </a:extLst>
          </p:cNvPr>
          <p:cNvSpPr txBox="1"/>
          <p:nvPr/>
        </p:nvSpPr>
        <p:spPr>
          <a:xfrm>
            <a:off x="4896464" y="4478195"/>
            <a:ext cx="1612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becomes a beneficiary by inputting relevant 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5205BB-72B2-943E-F454-592444513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551" y="5178107"/>
            <a:ext cx="2799313" cy="15548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700DE-CB29-4A5B-B929-1B27931BC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0569" y="4486268"/>
            <a:ext cx="1233649" cy="22466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94BD3A-BBCF-13F9-4D41-8C1E0AFCEF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048" y="4478195"/>
            <a:ext cx="1317189" cy="237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78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42599D-B536-E421-31DE-A9948F157106}"/>
              </a:ext>
            </a:extLst>
          </p:cNvPr>
          <p:cNvSpPr txBox="1"/>
          <p:nvPr/>
        </p:nvSpPr>
        <p:spPr>
          <a:xfrm>
            <a:off x="226142" y="235974"/>
            <a:ext cx="321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HTML- Footer and JS links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CB6FC-023E-7751-C451-320776D1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784902"/>
            <a:ext cx="6144482" cy="2800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4C301B-5382-2DD0-9DB5-0A62A545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284" y="324853"/>
            <a:ext cx="5690716" cy="130035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B81715-BF3D-7163-26F2-7E10F3C80149}"/>
              </a:ext>
            </a:extLst>
          </p:cNvPr>
          <p:cNvCxnSpPr>
            <a:cxnSpLocks/>
          </p:cNvCxnSpPr>
          <p:nvPr/>
        </p:nvCxnSpPr>
        <p:spPr>
          <a:xfrm flipV="1">
            <a:off x="3878664" y="420640"/>
            <a:ext cx="2749898" cy="6344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B29756-F596-996C-9E8D-9B6299111BF3}"/>
              </a:ext>
            </a:extLst>
          </p:cNvPr>
          <p:cNvSpPr txBox="1"/>
          <p:nvPr/>
        </p:nvSpPr>
        <p:spPr>
          <a:xfrm>
            <a:off x="8213092" y="1625212"/>
            <a:ext cx="2435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Footer keeps professional feel of website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0DAD4F-2677-4540-331E-AC936BC45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68" y="5089893"/>
            <a:ext cx="8697539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3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398AE-D9D0-E53A-9B74-CB84D9DB0750}"/>
              </a:ext>
            </a:extLst>
          </p:cNvPr>
          <p:cNvSpPr txBox="1"/>
          <p:nvPr/>
        </p:nvSpPr>
        <p:spPr>
          <a:xfrm>
            <a:off x="245806" y="314632"/>
            <a:ext cx="277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Fetch and </a:t>
            </a:r>
            <a:r>
              <a:rPr lang="en-GB" dirty="0" err="1"/>
              <a:t>DBConnector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61551-7FFA-AA9E-4004-8C8FA9C34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1714126"/>
            <a:ext cx="3962953" cy="857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23FAF-2FAA-5D7D-1AB2-92EC14DFA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11" y="3429000"/>
            <a:ext cx="7668695" cy="31436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7E6C10E-7320-63E3-8540-CB278CFE85F4}"/>
                  </a:ext>
                </a:extLst>
              </p14:cNvPr>
              <p14:cNvContentPartPr/>
              <p14:nvPr/>
            </p14:nvContentPartPr>
            <p14:xfrm>
              <a:off x="1650217" y="3393588"/>
              <a:ext cx="6422760" cy="1032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7E6C10E-7320-63E3-8540-CB278CFE85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4097" y="3387468"/>
                <a:ext cx="6435000" cy="10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4348873-23EA-964D-A706-2E2046C50F77}"/>
                  </a:ext>
                </a:extLst>
              </p14:cNvPr>
              <p14:cNvContentPartPr/>
              <p14:nvPr/>
            </p14:nvContentPartPr>
            <p14:xfrm>
              <a:off x="2878177" y="6153708"/>
              <a:ext cx="2197080" cy="612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4348873-23EA-964D-A706-2E2046C50F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72057" y="6147588"/>
                <a:ext cx="2209320" cy="6242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4B5DEB8-9553-686B-04DC-B42A8E890385}"/>
              </a:ext>
            </a:extLst>
          </p:cNvPr>
          <p:cNvSpPr txBox="1"/>
          <p:nvPr/>
        </p:nvSpPr>
        <p:spPr>
          <a:xfrm>
            <a:off x="4589922" y="1362263"/>
            <a:ext cx="18269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FileZilla used to link my computer and live server, keeps DB connector running on page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EC7A30-FB82-2D83-CD94-B290E05BD1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585" y="1823679"/>
            <a:ext cx="3705742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6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256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Coursework CSC1034 25/26 Gender Equality SDG5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Olly Statham</dc:creator>
  <cp:lastModifiedBy>Olly Statham</cp:lastModifiedBy>
  <cp:revision>1</cp:revision>
  <dcterms:created xsi:type="dcterms:W3CDTF">2026-04-23T19:58:49Z</dcterms:created>
  <dcterms:modified xsi:type="dcterms:W3CDTF">2026-04-23T23:38:52Z</dcterms:modified>
</cp:coreProperties>
</file>